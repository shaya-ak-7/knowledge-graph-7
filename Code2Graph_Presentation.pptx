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We are Team 20, and our project is 'Knowledge Graph-Based Structural Context for AI-Assisted Software Development' — implemented as a system called Code2Graph. The whole idea is that AI coding assistants need the *right* code context, and the right context is mostly about relationships between files and symbols, not more lines of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ten sections we will cover: abstract, introduction, problem statement, existing system, proposed system, literature review, system architecture, list of modules, module description and the output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— Abstract. One line each: what the project is, what it builds, and what you will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problem: AI tools are given broad context or file-level context. They miss relationships between components and they also pull in irrelevant code. So the assistant gets an incomplete and noisy picture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Code2Graph builds a persistent graph from the repository: files, modules, classes and functions are nodes; imports, calls, inheritance and dependencies are edges. Code-only indexing is fully local — no API key, no tokens. A watcher keeps the graph current and missing-target references are recorded and later healed. The graph is served through a CLI, agent skills and an optional MCP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—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repository is more than files. Code2Graph models symbols, files, imports, calls and inheritance as a graph that agents can query, so execution paths, dependencies and change impact become graph questions instead of guesswork.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capability groups: understand a repo, trace behaviour, assess a change, keep references current, and optionally explore documents and media with a semantic provider. Everything structural is local and deterministic.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— Problem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assistant must be given the right context before it reasons about a change. Broad retrieval misses structure and adds noise; refactors break references and the tooling rarely tracks what broke.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consequence table: each gap — no relationship model, whole-file retrieval, repeated scans, no broken-reference tracking, tool-specific integrations — translates into a practical failure for the developer or the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— Existing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code context is handled today: IDE search, LSP, RAG over chunks, static analysers and code-search platforms. Each is useful, and each misses something.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limitations that matter for our problem: no unified persistent graph, no structural links, irrelevant context, manual updates, no broken-reference handling, ad hoc integrations, and code vs semantic extraction not separated.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 — Proposed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design decisions: the graph is the single model, parsing is local and deterministic, every edge carries a confidence label, updates are incremental, references heal themselves, and the graph is exposed through CLI, agent skills and 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features: query, path, explain, impact, communities and healing. The advantage line summarises it: focused context instead of whole files, with measurable token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Side-by-side comparison. Notice the last row: on our sample repository the graph-based answers used about 4.6 times fewer tokens than sending the whole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 — Literature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background areas we studied: knowledge graphs in software engineering, static analysis and Tree-sitter parsing, code-intelligence platforms and LSP, graph analytics, incremental indexing, and the Model Context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concepts we adopted: confidence labels for relationships, keeping broken references as recoverable metadata, reverse traversal for change impact, and a strict separation between deterministic extraction and semantic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Technology stack: Python 3.10+, Tree-sitter with per-language grammars, NetworkX, watchdog, the MCP SDK, and smaller helpers like rapidfuzz. Outputs range from graph.json to interactive HTML, SVG, GraphML, Obsidian and Cypher.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 — System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is detect, extract, build, cluster, analyse, report and export. Every stage is its own module and they exchange plain dictionaries and NetworkX 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system as layers: an access layer of CLI/agent skills/MCP; a query and analysis layer; the graph store; the extraction layer; and the source files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Extraction in five steps — discover files, parse locally with Tree-sitter, resolve relationships across files, build and validate the graph without dangling endpoints, then persist the outputs. The schema and the confidence labels are shown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behaviour: the watcher debounces events, re-parses only affected files, reconciles the graph, and records any relationship that lost its endpoint as BROKEN with a reason. On the next rebuild a returning target restores the edge and marks it HEALED. The MCP tools broken_references and heal_status expose this to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 — List of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pipeline modules with their responsibilities: detect, extract, the language extractors, build, cluster, analyse, report, export and wiki.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Runtime and support modules: the MCP server, the watcher, healing, the semantic cache, the manifest that drives incremental work, security validation, schema validation, id/path helpers and the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 — Module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entry points and their contracts for extraction and build. Note that extract() takes a list of paths and a keyword-only root, because node ids are derived relative to that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and output functions: god nodes, surprising connections, suggested questions, import cycles, graph diff, the report generator, the exporters and the wiki writer.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Runtime, cache and healing: the stdio/HTTP MCP server, the watcher and its update check, the semantic cache, broken-reference storage and healing status, and the security validators. The MCP tool list is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10 — Output screenshots. Every screenshot that follows is a real run of the tool on a 15-file sample repository; the same run gives 65 nodes, 110 edges and 9 communities.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run: extracting the repository. Everything is local AST work — no API key and no tokens — and the graph is written to code2graph-out/graph.json.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focused query, and the god-nodes command that lists the architectural hubs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question with a wider budget: 19 nodes and 29 edges returned, each with its source file, line and community.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 tracing and explanation: a four-hop route between RequestHandler and Task, and a full explanation of AuthService including inferred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Change impact: a reverse traversal from Model shows everything a change could reach — imports, inherits, calls and re-exports.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benchmark command quantifies the benefit: roughly 4.6 times fewer tokens per query than using the whole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graph, many exports: interactive HTML, SVG, GraphML and a Mermaid call-flow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MCP server: 12 tools over stdio, a background watcher, and graph_stats reporting nodes, edges, communities and the confidence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Inside a client session: shortest_path and get_neighbors, with every relationship carrying its relation type and confidence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natural-language query answered through the MCP tool call, including the traversal details and the token budget the server respected.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Healing, part one: a source file is deleted and the update records the lost relationships as BROKEN metadata — no dangling edges and no phantom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Healing, part two: when the file returns, all nine records are reconciled and marked HEALED.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agent-facing diagnostics: heal_status reports HEALTHY with four healed references, and broken_references confirms nothing is outstanding.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persisted graph drawn as a network — node size is degree and colour is community.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detection output: nine communities for the sample repository, each named after its highest-degree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edge has a confidence label and a relation type, which is what makes the graph trustworthy for an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generated report, part one: corpus summary, confidence split, community hubs and god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generated report, part two: surprising cross-module connections, import cycles and the communities with their cohesion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generated report, part three: knowledge gaps and the suggested questions the graph is uniquely able to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conclusion: Code2Graph gives AI assistants and developers a focused, locally computed, self-healing structural context. Future work is broader dynamic analysis, a richer semantic layer for documents and media, and deeper PR / cross-repository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We are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38928"/>
            <a:ext cx="12191695" cy="457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6070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0" i="0">
                <a:solidFill>
                  <a:srgbClr val="9FC6E2"/>
                </a:solidFill>
                <a:latin typeface="Calibri"/>
              </a:defRPr>
            </a:pPr>
            <a:r>
              <a:t>K.L.N. COLLEGE OF ENGINEERING, POTTAPALAYAM – 630 612</a:t>
            </a:r>
          </a:p>
          <a:p>
            <a:pPr algn="ctr">
              <a:spcBef>
                <a:spcPts val="0"/>
              </a:spcBef>
              <a:spcAft>
                <a:spcPts val="2600"/>
              </a:spcAft>
              <a:defRPr sz="1400" b="0" i="0">
                <a:solidFill>
                  <a:srgbClr val="9FC6E2"/>
                </a:solidFill>
                <a:latin typeface="Calibri"/>
              </a:defRPr>
            </a:pPr>
            <a:r>
              <a:t>Department of Artificial Intelligence and Data Science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Knowledge Graph-Based Structural Context</a:t>
            </a:r>
          </a:p>
          <a:p>
            <a:pPr algn="ctr">
              <a:spcBef>
                <a:spcPts val="0"/>
              </a:spcBef>
              <a:spcAft>
                <a:spcPts val="1400"/>
              </a:spcAft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for AI-Assisted Software Development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300" b="0" i="1">
                <a:solidFill>
                  <a:srgbClr val="8FC9E8"/>
                </a:solidFill>
                <a:latin typeface="Calibri"/>
              </a:defRPr>
            </a:pPr>
            <a:r>
              <a:t>Code2Graph — a code-intelligence system built on Tree-sitter parsing, NetworkX graph analytics and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4924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C8DEEE"/>
                </a:solidFill>
                <a:latin typeface="Calibri"/>
              </a:defRPr>
            </a:pPr>
            <a:r>
              <a:t>Team No: 20        Academic Year: 2026 – 2027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Supervisor:  Mrs. Ilamathi S.,  Assistant Professor / AI &amp; DS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C8DEEE"/>
                </a:solidFill>
                <a:latin typeface="Calibri"/>
              </a:defRPr>
            </a:pPr>
            <a:r>
              <a:t>Team:  Akshaya Kumar R S (910623108002)   ·   Sachin J (910623108041)   ·   Senthil Pandian G S (910623108044)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Index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Contents of the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5029200" cy="749808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3152" cy="74980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09928"/>
            <a:ext cx="548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96C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09928"/>
            <a:ext cx="4023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42A4C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32888"/>
            <a:ext cx="5029200" cy="749808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532888"/>
            <a:ext cx="73152" cy="74980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42616"/>
            <a:ext cx="548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96C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42616"/>
            <a:ext cx="4023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42A4C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65576"/>
            <a:ext cx="5029200" cy="749808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465576"/>
            <a:ext cx="73152" cy="74980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575304"/>
            <a:ext cx="548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96C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75304"/>
            <a:ext cx="4023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42A4C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98264"/>
            <a:ext cx="5029200" cy="749808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398264"/>
            <a:ext cx="73152" cy="74980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507992"/>
            <a:ext cx="548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96C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507992"/>
            <a:ext cx="4023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42A4C"/>
                </a:solidFill>
                <a:latin typeface="Calibri"/>
              </a:defRPr>
            </a:pPr>
            <a:r>
              <a:t>Existing System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330952"/>
            <a:ext cx="5029200" cy="749808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330952"/>
            <a:ext cx="73152" cy="74980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440680"/>
            <a:ext cx="548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96C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440680"/>
            <a:ext cx="4023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42A4C"/>
                </a:solidFill>
                <a:latin typeface="Calibri"/>
              </a:defRPr>
            </a:pPr>
            <a:r>
              <a:t>Proposed System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1600200"/>
            <a:ext cx="5029200" cy="749808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600200"/>
            <a:ext cx="73152" cy="749808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709928"/>
            <a:ext cx="548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2F9E6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1709928"/>
            <a:ext cx="4023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42A4C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2532888"/>
            <a:ext cx="5029200" cy="749808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2532888"/>
            <a:ext cx="73152" cy="749808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642616"/>
            <a:ext cx="548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2F9E6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642616"/>
            <a:ext cx="4023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42A4C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465576"/>
            <a:ext cx="5029200" cy="749808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3465576"/>
            <a:ext cx="73152" cy="749808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575304"/>
            <a:ext cx="548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2F9E6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575304"/>
            <a:ext cx="4023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42A4C"/>
                </a:solidFill>
                <a:latin typeface="Calibri"/>
              </a:defRPr>
            </a:pPr>
            <a:r>
              <a:t>List of Modules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4398264"/>
            <a:ext cx="5029200" cy="749808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4398264"/>
            <a:ext cx="73152" cy="749808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507992"/>
            <a:ext cx="548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2F9E6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507992"/>
            <a:ext cx="4023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42A4C"/>
                </a:solidFill>
                <a:latin typeface="Calibri"/>
              </a:defRPr>
            </a:pPr>
            <a:r>
              <a:t>Module Description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5330952"/>
            <a:ext cx="5029200" cy="749808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5080" y="5330952"/>
            <a:ext cx="73152" cy="749808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5440680"/>
            <a:ext cx="548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2F9E6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5440680"/>
            <a:ext cx="4023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42A4C"/>
                </a:solidFill>
                <a:latin typeface="Calibri"/>
              </a:defRPr>
            </a:pPr>
            <a:r>
              <a:t>Output Screenshots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9692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Abstract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A8CFE8"/>
                </a:solidFill>
                <a:latin typeface="Calibri"/>
              </a:defRPr>
            </a:pPr>
            <a:r>
              <a:t>What the project is, and what it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977639"/>
            <a:ext cx="9692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A persistent code-intelligence graph built from a software repository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Tree-sitter parsing + language-specific extractors for nodes and edges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Graph queries, shortest paths, community analysis, change impact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Local, LLM-free indexing · live watcher · broken-reference healing · MCP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2E5C8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A5B1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Abstract — The Problem We Address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700" b="0" i="0">
                <a:solidFill>
                  <a:srgbClr val="1F242B"/>
                </a:solidFill>
                <a:latin typeface="Calibri"/>
              </a:defRPr>
            </a:pPr>
            <a:r>
              <a:t>▪   AI-assisted programming tools need relevant code context to understand a software project and reason about changes.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700" b="0" i="0">
                <a:solidFill>
                  <a:srgbClr val="1F242B"/>
                </a:solidFill>
                <a:latin typeface="Calibri"/>
              </a:defRPr>
            </a:pPr>
            <a:r>
              <a:t>▪   Broad context retrieval and file-level search can overlook the relationships between components.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700" b="0" i="0">
                <a:solidFill>
                  <a:srgbClr val="1F242B"/>
                </a:solidFill>
                <a:latin typeface="Calibri"/>
              </a:defRPr>
            </a:pPr>
            <a:r>
              <a:t>▪   They can equally include irrelevant information, wasting context and tokens.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700" b="0" i="0">
                <a:solidFill>
                  <a:srgbClr val="1F242B"/>
                </a:solidFill>
                <a:latin typeface="Calibri"/>
              </a:defRPr>
            </a:pPr>
            <a:r>
              <a:t>▪   Result: assistants answer with partial or wrong mental models of the codebase.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394960" cy="214884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794760"/>
            <a:ext cx="82296" cy="214884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913632"/>
            <a:ext cx="5010912" cy="19110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What Code2Graph does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A6470"/>
                </a:solidFill>
                <a:latin typeface="Calibri"/>
              </a:defRPr>
            </a:pPr>
            <a:r>
              <a:t>Builds a persistent graph from a software repository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A6470"/>
                </a:solidFill>
                <a:latin typeface="Calibri"/>
              </a:defRPr>
            </a:pPr>
            <a:r>
              <a:t>Scans supported source and configuration files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A6470"/>
                </a:solidFill>
                <a:latin typeface="Calibri"/>
              </a:defRPr>
            </a:pPr>
            <a:r>
              <a:t>Tree-sitter-based parsing + language-specific extractors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A6470"/>
                </a:solidFill>
                <a:latin typeface="Calibri"/>
              </a:defRPr>
            </a:pPr>
            <a:r>
              <a:t>Represents files, modules, classes and functions as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794760"/>
            <a:ext cx="5394960" cy="214884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3794760"/>
            <a:ext cx="82296" cy="214884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3913632"/>
            <a:ext cx="5010912" cy="19110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How the graph is used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A6470"/>
                </a:solidFill>
                <a:latin typeface="Calibri"/>
              </a:defRPr>
            </a:pPr>
            <a:r>
              <a:t>Graph queries and shortest-path tracing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A6470"/>
                </a:solidFill>
                <a:latin typeface="Calibri"/>
              </a:defRPr>
            </a:pPr>
            <a:r>
              <a:t>Component explanation and community analysis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A6470"/>
                </a:solidFill>
                <a:latin typeface="Calibri"/>
              </a:defRPr>
            </a:pPr>
            <a:r>
              <a:t>Change-impact inspection before a refactor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A6470"/>
                </a:solidFill>
                <a:latin typeface="Calibri"/>
              </a:defRPr>
            </a:pPr>
            <a:r>
              <a:t>Focused structural context handed to AI assistants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Abstract — System Summary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Relationships such as imports, calls, inheritance and dependencies are represented as graph edges.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Code-only indexing runs locally — no LLM API calls and no token consumption.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Optional semantic workflows process supported documents and media when a model provider is configured.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A file-system watcher incrementally updates the graph as files change.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Missing-target references are recorded and reconciled during updates, so suitable relationships recover when their targets return.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The graph is accessed through a CLI, IDE-specific agent skills, and an optional MCP server for compatible assistants.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Goal: help developers and AI assistants navigate codebases and reason about cross-file changes more effectively.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Limitation: static analysis may not resolve all dynamic or runtime-dependent behaviour.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9692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A8CFE8"/>
                </a:solidFill>
                <a:latin typeface="Calibri"/>
              </a:defRPr>
            </a:pPr>
            <a:r>
              <a:t>Why a code graph matters for AI-assisted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977639"/>
            <a:ext cx="9692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A repository is more than a collection of files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Relationships are the missing context — not more text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Deterministic structure first, semantic inference second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One graph, many surfaces: CLI, agent skills,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2E5C8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A5B1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Introduction — From Files to a Code Graph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650" b="0" i="0">
                <a:solidFill>
                  <a:srgbClr val="1F242B"/>
                </a:solidFill>
                <a:latin typeface="Calibri"/>
              </a:defRPr>
            </a:pPr>
            <a:r>
              <a:t>▪   Modern projects are large, multi-file and highly interconnected; a repository is more than a collection of files.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50" b="0" i="0">
                <a:solidFill>
                  <a:srgbClr val="1F242B"/>
                </a:solidFill>
                <a:latin typeface="Calibri"/>
              </a:defRPr>
            </a:pPr>
            <a:r>
              <a:t>▪   Code2Graph models symbols, files, imports, calls, inheritance and other relationships as a graph that coding agents can query.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50" b="0" i="0">
                <a:solidFill>
                  <a:srgbClr val="1F242B"/>
                </a:solidFill>
                <a:latin typeface="Calibri"/>
              </a:defRPr>
            </a:pPr>
            <a:r>
              <a:t>▪   This makes it easier to follow execution paths, understand dependencies, and identify the impact of a change.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50" b="0" i="0">
                <a:solidFill>
                  <a:srgbClr val="1F242B"/>
                </a:solidFill>
                <a:latin typeface="Calibri"/>
              </a:defRPr>
            </a:pPr>
            <a:r>
              <a:t>▪   Instead of repeatedly re-scanning the entire project, an assistant asks a focused structural question.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50" b="0" i="0">
                <a:solidFill>
                  <a:srgbClr val="1F242B"/>
                </a:solidFill>
                <a:latin typeface="Calibri"/>
              </a:defRPr>
            </a:pPr>
            <a:r>
              <a:t>▪   Turning a source tree into a navigable code-intelligence graph keeps AI context small and relevant.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60520"/>
            <a:ext cx="11064240" cy="178308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160520"/>
            <a:ext cx="82296" cy="178308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79392"/>
            <a:ext cx="10680192" cy="1545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The central idea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50" b="0" i="0">
                <a:solidFill>
                  <a:srgbClr val="5A6470"/>
                </a:solidFill>
                <a:latin typeface="Calibri"/>
              </a:defRPr>
            </a:pPr>
            <a:r>
              <a:t>▪  Files and symbols become nodes; imports, calls, containment, inheritance and dependencies become edges.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50" b="0" i="0">
                <a:solidFill>
                  <a:srgbClr val="5A6470"/>
                </a:solidFill>
                <a:latin typeface="Calibri"/>
              </a:defRPr>
            </a:pPr>
            <a:r>
              <a:t>▪  The graph is persisted (graph.json), so the expensive work happens once and is reused by every later question.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50" b="0" i="0">
                <a:solidFill>
                  <a:srgbClr val="5A6470"/>
                </a:solidFill>
                <a:latin typeface="Calibri"/>
              </a:defRPr>
            </a:pPr>
            <a:r>
              <a:t>▪  A watcher keeps it current, and every extracted relationship carries a confidence label: EXTRACTED, INFERRED or AMBIGUOUS.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Introduction — Capabilities at a Glance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15184" cy="196596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82296" cy="196596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36192"/>
            <a:ext cx="2231136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50" b="1" i="0">
                <a:solidFill>
                  <a:srgbClr val="142A4C"/>
                </a:solidFill>
                <a:latin typeface="Calibri"/>
              </a:defRPr>
            </a:pPr>
            <a:r>
              <a:t>Understand a repo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5A6470"/>
                </a:solidFill>
                <a:latin typeface="Calibri"/>
              </a:defRPr>
            </a:pPr>
            <a:r>
              <a:t>Find entry points, symbols, modules, calls, imports and dependencies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417320"/>
            <a:ext cx="2615184" cy="196596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417320"/>
            <a:ext cx="82296" cy="196596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36192"/>
            <a:ext cx="2231136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50" b="1" i="0">
                <a:solidFill>
                  <a:srgbClr val="142A4C"/>
                </a:solidFill>
                <a:latin typeface="Calibri"/>
              </a:defRPr>
            </a:pPr>
            <a:r>
              <a:t>Trace behaviour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5A6470"/>
                </a:solidFill>
                <a:latin typeface="Calibri"/>
              </a:defRPr>
            </a:pPr>
            <a:r>
              <a:t>Query relationships, neighbours, communities, shortest-path tracing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417320"/>
            <a:ext cx="2615184" cy="196596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417320"/>
            <a:ext cx="82296" cy="19659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536192"/>
            <a:ext cx="2231136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50" b="1" i="0">
                <a:solidFill>
                  <a:srgbClr val="142A4C"/>
                </a:solidFill>
                <a:latin typeface="Calibri"/>
              </a:defRPr>
            </a:pPr>
            <a:r>
              <a:t>Assess a change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5A6470"/>
                </a:solidFill>
                <a:latin typeface="Calibri"/>
              </a:defRPr>
            </a:pPr>
            <a:r>
              <a:t>Inspect callers and other nodes affected by a refactor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417320"/>
            <a:ext cx="2615184" cy="196596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97696" y="1417320"/>
            <a:ext cx="82296" cy="1965960"/>
          </a:xfrm>
          <a:prstGeom prst="rect">
            <a:avLst/>
          </a:prstGeom>
          <a:solidFill>
            <a:srgbClr val="8E5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1536192"/>
            <a:ext cx="2231136" cy="1728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50" b="1" i="0">
                <a:solidFill>
                  <a:srgbClr val="142A4C"/>
                </a:solidFill>
                <a:latin typeface="Calibri"/>
              </a:defRPr>
            </a:pPr>
            <a:r>
              <a:t>Keep it current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5A6470"/>
                </a:solidFill>
                <a:latin typeface="Calibri"/>
              </a:defRPr>
            </a:pPr>
            <a:r>
              <a:t>Saves, deletes and renames trigger incremental updates and healing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600" b="0" i="0">
                <a:solidFill>
                  <a:srgbClr val="1F242B"/>
                </a:solidFill>
                <a:latin typeface="Calibri"/>
              </a:defRPr>
            </a:pPr>
            <a:r>
              <a:t>▪   Usable three ways: an agent skill inside a coding assistant, a terminal CLI, or an MCP server with a live watcher.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00" b="0" i="0">
                <a:solidFill>
                  <a:srgbClr val="1F242B"/>
                </a:solidFill>
                <a:latin typeface="Calibri"/>
              </a:defRPr>
            </a:pPr>
            <a:r>
              <a:t>▪   Code indexing needs no API key — a key is only required for optional document / media semantic workflows.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9692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A8CFE8"/>
                </a:solidFill>
                <a:latin typeface="Calibri"/>
              </a:defRPr>
            </a:pPr>
            <a:r>
              <a:t>What is missing in today's context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977639"/>
            <a:ext cx="9692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File-level retrieval loses structure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Irrelevant context inflates tokens and error rates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Cross-file impact is hard to see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Broken references are silently lost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2E5C8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A5B1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650" b="0" i="0">
                <a:solidFill>
                  <a:srgbClr val="1F242B"/>
                </a:solidFill>
                <a:latin typeface="Calibri"/>
              </a:defRPr>
            </a:pPr>
            <a:r>
              <a:t>▪   AI assistants must be given the right context before they can reason about a change — but choosing that context is the hard part.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50" b="0" i="0">
                <a:solidFill>
                  <a:srgbClr val="1F242B"/>
                </a:solidFill>
                <a:latin typeface="Calibri"/>
              </a:defRPr>
            </a:pPr>
            <a:r>
              <a:t>▪   Broad context retrieval and file-level search can overlook relationships between components.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50" b="0" i="0">
                <a:solidFill>
                  <a:srgbClr val="1F242B"/>
                </a:solidFill>
                <a:latin typeface="Calibri"/>
              </a:defRPr>
            </a:pPr>
            <a:r>
              <a:t>▪   The same strategies pull in irrelevant information, which costs tokens and increases hallucination risk.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50" b="0" i="0">
                <a:solidFill>
                  <a:srgbClr val="1F242B"/>
                </a:solidFill>
                <a:latin typeface="Calibri"/>
              </a:defRPr>
            </a:pPr>
            <a:r>
              <a:t>▪   Manual navigation across a large codebase is slow, and cross-file impact of a change is easy to miss.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50" b="0" i="0">
                <a:solidFill>
                  <a:srgbClr val="1F242B"/>
                </a:solidFill>
                <a:latin typeface="Calibri"/>
              </a:defRPr>
            </a:pPr>
            <a:r>
              <a:t>▪   During refactors, renames and deletions, references break — and tooling rarely tracks what broke or why.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50" b="0" i="0">
                <a:solidFill>
                  <a:srgbClr val="1F242B"/>
                </a:solidFill>
                <a:latin typeface="Calibri"/>
              </a:defRPr>
            </a:pPr>
            <a:r>
              <a:t>▪   There is no single, persistent, queryable structure that both developers and agents can share.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11064240" cy="137160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572000"/>
            <a:ext cx="82296" cy="13716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690872"/>
            <a:ext cx="10680192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Requirement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 i="0">
                <a:solidFill>
                  <a:srgbClr val="5A6470"/>
                </a:solidFill>
                <a:latin typeface="Calibri"/>
              </a:defRPr>
            </a:pPr>
            <a:r>
              <a:t>A persistent structural context layer that is (a) focused, (b) locally computable, (c) incrementally updated, and (d) queryable by an AI assistant through a standard interface.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Problem Statement — Consequences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110642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5181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Consequence for the developer / assistant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No relationship model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The assistant sees files, not how components call, inherit from or depend on each other.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Whole-file or chunk retrieval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Context windows fill with unrelated code; answers drift from the real implementation.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Repeated full scans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Slow, token-heavy and repeated for every question asked about the repository.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No broken-reference tracking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Refactoring silently drops edges; the assistant then reasons on a stale mental model.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Tool-specific integrations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Every assistant needs a bespoke integration instead of one standard graph interface.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84632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500" b="0" i="0">
                <a:solidFill>
                  <a:srgbClr val="1F242B"/>
                </a:solidFill>
                <a:latin typeface="Calibri"/>
              </a:defRPr>
            </a:pPr>
            <a:r>
              <a:t>▪   These gaps motivate a locally-computed graph that is small enough to query but complete enough to trust.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9692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Existing System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A8CFE8"/>
                </a:solidFill>
                <a:latin typeface="Calibri"/>
              </a:defRPr>
            </a:pPr>
            <a:r>
              <a:t>How code context is handled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977639"/>
            <a:ext cx="9692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IDE search, grep and file trees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Language Server Protocol (LSP) navigation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RAG over code chunks and whole files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Static analysers, docs generators and code-search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2E5C8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A5B1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Existing System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023360"/>
                <a:gridCol w="4206240"/>
              </a:tblGrid>
              <a:tr h="6629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gives you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does not give you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IDE search / grep, file tree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Fast lexical lookup; go-to-file navigation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No relationship model; misses indirect references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Language Server Protocol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Symbol-level go-to-definition and find-references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Per-workspace, IDE-bound; no persistent queryable graph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RAG over code chunks / whole files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Text similarity retrieval for an LLM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Structure-blind; pulls irrelevant code; no impact analysis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Docs generators / static analysers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Reports, coverage, dependency listings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Batch outputs; not queryable mid-task by an agent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Code-search platforms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Cross-repo search at organisation scale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Heavy infrastructure; not a local, self-updating graph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Existing System — Limitations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600" b="0" i="0">
                <a:solidFill>
                  <a:srgbClr val="1F242B"/>
                </a:solidFill>
                <a:latin typeface="Calibri"/>
              </a:defRPr>
            </a:pPr>
            <a:r>
              <a:t>▪   No unified, persistent relationship graph covering the whole repository.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00" b="0" i="0">
                <a:solidFill>
                  <a:srgbClr val="1F242B"/>
                </a:solidFill>
                <a:latin typeface="Calibri"/>
              </a:defRPr>
            </a:pPr>
            <a:r>
              <a:t>▪   File-level or chunk-level retrieval misses structural links such as calls, inheritance and imports.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00" b="0" i="0">
                <a:solidFill>
                  <a:srgbClr val="1F242B"/>
                </a:solidFill>
                <a:latin typeface="Calibri"/>
              </a:defRPr>
            </a:pPr>
            <a:r>
              <a:t>▪   Retrieved context is often irrelevant, raising token cost and hallucination risk.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00" b="0" i="0">
                <a:solidFill>
                  <a:srgbClr val="1F242B"/>
                </a:solidFill>
                <a:latin typeface="Calibri"/>
              </a:defRPr>
            </a:pPr>
            <a:r>
              <a:t>▪   Updates are manual — there is no automatic incremental rebuild when a file changes on disk.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00" b="0" i="0">
                <a:solidFill>
                  <a:srgbClr val="1F242B"/>
                </a:solidFill>
                <a:latin typeface="Calibri"/>
              </a:defRPr>
            </a:pPr>
            <a:r>
              <a:t>▪   Broken references after a rename or delete are neither recorded nor reconciled.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00" b="0" i="0">
                <a:solidFill>
                  <a:srgbClr val="1F242B"/>
                </a:solidFill>
                <a:latin typeface="Calibri"/>
              </a:defRPr>
            </a:pPr>
            <a:r>
              <a:t>▪   Integration with assistants is ad hoc instead of using a standard protocol.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00" b="0" i="0">
                <a:solidFill>
                  <a:srgbClr val="1F242B"/>
                </a:solidFill>
                <a:latin typeface="Calibri"/>
              </a:defRPr>
            </a:pPr>
            <a:r>
              <a:t>▪   Code indexing and semantic (document/media) extraction are not clearly separated.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9692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Proposed System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A8CFE8"/>
                </a:solidFill>
                <a:latin typeface="Calibri"/>
              </a:defRPr>
            </a:pPr>
            <a:r>
              <a:t>Code2Graph — design and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977639"/>
            <a:ext cx="9692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Persistent graph of nodes and relationships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Local structural extraction, optional semantic layer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Incremental watcher with broken-reference healing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CLI, agent skills and MCP server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2E5C8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A5B1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Proposed System — Code2Graph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046720"/>
              </a:tblGrid>
              <a:tr h="600891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Design decision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Code2Graph implements it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Graph as the single model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Files, modules, classes, functions and other symbols are nodes; imports, calls, inheritance and dependencies are edges.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Local deterministic parsing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Tree-sitter-backed extractors per language, plus language-specific resolvers; no code is sent to a model for structural indexing.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Confidence-labelled edges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EXTRACTED, INFERRED and AMBIGUOUS labels make the strength of every relationship explicit.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Incremental by default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A watchdog-based watcher debounces saves/renames and re-parses only the affected files.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Self-healing references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Edges whose endpoint disappears are stored as BROKEN metadata and restored (HEALED) when the target returns.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Many access surfaces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Terminal CLI, IDE/agent skill files, and optional MCP server exposing graph tools to assistants.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Proposed System — Features &amp; Advantages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502152" cy="132588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82296" cy="132588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36192"/>
            <a:ext cx="3118104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Query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50" b="0" i="0">
                <a:solidFill>
                  <a:srgbClr val="5A6470"/>
                </a:solidFill>
                <a:latin typeface="Calibri"/>
              </a:defRPr>
            </a:pPr>
            <a:r>
              <a:t>Natural-language questions resolved by BFS/DFS traversal of the 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417320"/>
            <a:ext cx="3502152" cy="132588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417320"/>
            <a:ext cx="82296" cy="132588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3" y="1536192"/>
            <a:ext cx="3118104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Paths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50" b="0" i="0">
                <a:solidFill>
                  <a:srgbClr val="5A6470"/>
                </a:solidFill>
                <a:latin typeface="Calibri"/>
              </a:defRPr>
            </a:pPr>
            <a:r>
              <a:t>Shortest path between two symbols, with relation and confidence shown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417320"/>
            <a:ext cx="3502152" cy="132588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417320"/>
            <a:ext cx="82296" cy="13258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36192"/>
            <a:ext cx="3118104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Explain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50" b="0" i="0">
                <a:solidFill>
                  <a:srgbClr val="5A6470"/>
                </a:solidFill>
                <a:latin typeface="Calibri"/>
              </a:defRPr>
            </a:pPr>
            <a:r>
              <a:t>Plain-language explanation of a node and its neighbours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26080"/>
            <a:ext cx="3502152" cy="132588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82296" cy="1325880"/>
          </a:xfrm>
          <a:prstGeom prst="rect">
            <a:avLst/>
          </a:prstGeom>
          <a:solidFill>
            <a:srgbClr val="8E5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044952"/>
            <a:ext cx="3118104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Impact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50" b="0" i="0">
                <a:solidFill>
                  <a:srgbClr val="5A6470"/>
                </a:solidFill>
                <a:latin typeface="Calibri"/>
              </a:defRPr>
            </a:pPr>
            <a:r>
              <a:t>Reverse traversal listing everything a change can break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8536" y="2926080"/>
            <a:ext cx="3502152" cy="132588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88536" y="2926080"/>
            <a:ext cx="82296" cy="1325880"/>
          </a:xfrm>
          <a:prstGeom prst="rect">
            <a:avLst/>
          </a:prstGeom>
          <a:solidFill>
            <a:srgbClr val="C0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3" y="3044952"/>
            <a:ext cx="3118104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Communities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50" b="0" i="0">
                <a:solidFill>
                  <a:srgbClr val="5A6470"/>
                </a:solidFill>
                <a:latin typeface="Calibri"/>
              </a:defRPr>
            </a:pPr>
            <a:r>
              <a:t>Louvain clustering + god-node detection for architecture insight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2926080"/>
            <a:ext cx="3502152" cy="132588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1" y="2926080"/>
            <a:ext cx="82296" cy="1325880"/>
          </a:xfrm>
          <a:prstGeom prst="rect">
            <a:avLst/>
          </a:prstGeom>
          <a:solidFill>
            <a:srgbClr val="3B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044952"/>
            <a:ext cx="3118104" cy="1088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Healing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50" b="0" i="0">
                <a:solidFill>
                  <a:srgbClr val="5A6470"/>
                </a:solidFill>
                <a:latin typeface="Calibri"/>
              </a:defRPr>
            </a:pPr>
            <a:r>
              <a:t>Broken and healed reference diagnostics exposed to the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Advantages: focused context instead of whole files · measurable token reduction · no API key for code · stays current while you type · survives refactors.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Proposed System — Existing vs Proposed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39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749039"/>
                <a:gridCol w="4846320"/>
              </a:tblGrid>
              <a:tr h="56823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Existing approaches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— Code2Graph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Context unit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Whole files / text chunks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Graph nodes with their relationships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Relationships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Not modelled (or IDE-local only)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calls, imports, inherits, contains, method, uses …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Update model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Manual re-run / re-index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Debounced incremental watcher, atomic writes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Broken references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Silently dropped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Recorded as BROKEN, reconciled to HEALED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Assistant integration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Custom per-tool glue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Standard MCP tools and resources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Large prompts, repeated scans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Local AST pass; ~4.6× fewer tokens per query (sample run)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9692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Literature Review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A8CFE8"/>
                </a:solidFill>
                <a:latin typeface="Calibri"/>
              </a:defRPr>
            </a:pPr>
            <a:r>
              <a:t>Background areas and the technologies behind the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977639"/>
            <a:ext cx="9692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Knowledge graphs in software engineering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Static analysis and incremental parsing (Tree-sitter)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Graph analytics: communities, centrality, shortest paths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Model Context Protocol for assistant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2E5C8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A5B1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Literature Review — Background Areas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863840"/>
              </a:tblGrid>
              <a:tr h="61395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idea taken into this project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Knowledge graphs in software engineering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Represent files, symbols and relationships explicitly so navigation, tracing and impact analysis become graph queries.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Static analysis / AST parsing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Tree-sitter offers robust, incremental, error-tolerant parsing across many languages — the base of the extraction layer.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Code intelligence platforms &amp; LSP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Symbol-level go-to-definition and find-references prove the value of a relationship model, but stay IDE/workspace bound.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Graph analytics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Community detection (Louvain), centrality and shortest paths expose architectural hubs and bridging components.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Incremental indexing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File-system watchers with debouncing keep derived artefacts fresh with minimal recomputation.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Model Context Protocol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A standard way to expose tools and resources so any compatible assistant can query the same graph.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Literature Review — Concepts &amp; Scope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Relationship confidence: distinguishing EXTRACTED, INFERRED and AMBIGUOUS edges keeps deterministic parsing separate from semantic guessing.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Broken-reference handling: retaining unresolved edges as metadata (with reason, missing node and source location) instead of dropping them.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Refactoring support: reverse traversal over callers and dependents gives change-impact analysis before the edit lands.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Deterministic vs. semantic extraction: structural indexing never depends on an LLM; semantic extraction is optional and flagged when unavailable.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Repository hygiene: ignore rules, size caps, URL/path validation and label sanitisation protect the local corpus.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Literature Review — Technology Stack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502152" cy="128016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82296" cy="128016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36192"/>
            <a:ext cx="3118104" cy="1042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Python 3.10+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A6470"/>
                </a:solidFill>
                <a:latin typeface="Calibri"/>
              </a:defRPr>
            </a:pPr>
            <a:r>
              <a:t>Core language /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417320"/>
            <a:ext cx="3502152" cy="128016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417320"/>
            <a:ext cx="82296" cy="128016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3" y="1536192"/>
            <a:ext cx="3118104" cy="1042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Tree-sitter + grammars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A6470"/>
                </a:solidFill>
                <a:latin typeface="Calibri"/>
              </a:defRPr>
            </a:pPr>
            <a:r>
              <a:t>Incremental multi-language parsing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417320"/>
            <a:ext cx="3502152" cy="128016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417320"/>
            <a:ext cx="82296" cy="1280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36192"/>
            <a:ext cx="3118104" cy="1042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NetworkX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A6470"/>
                </a:solidFill>
                <a:latin typeface="Calibri"/>
              </a:defRPr>
            </a:pPr>
            <a:r>
              <a:t>Graph construction, path, centrality, Louvain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80360"/>
            <a:ext cx="3502152" cy="128016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880360"/>
            <a:ext cx="82296" cy="1280160"/>
          </a:xfrm>
          <a:prstGeom prst="rect">
            <a:avLst/>
          </a:prstGeom>
          <a:solidFill>
            <a:srgbClr val="8E5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999232"/>
            <a:ext cx="3118104" cy="1042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watchdog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A6470"/>
                </a:solidFill>
                <a:latin typeface="Calibri"/>
              </a:defRPr>
            </a:pPr>
            <a:r>
              <a:t>File-system events with debouncing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8536" y="2880360"/>
            <a:ext cx="3502152" cy="128016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88536" y="2880360"/>
            <a:ext cx="82296" cy="1280160"/>
          </a:xfrm>
          <a:prstGeom prst="rect">
            <a:avLst/>
          </a:prstGeom>
          <a:solidFill>
            <a:srgbClr val="C0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3" y="2999232"/>
            <a:ext cx="3118104" cy="1042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MCP SDK (stdio/HTTP)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A6470"/>
                </a:solidFill>
                <a:latin typeface="Calibri"/>
              </a:defRPr>
            </a:pPr>
            <a:r>
              <a:t>Assistant-facing tools and resources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2880360"/>
            <a:ext cx="3502152" cy="128016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1" y="2880360"/>
            <a:ext cx="82296" cy="1280160"/>
          </a:xfrm>
          <a:prstGeom prst="rect">
            <a:avLst/>
          </a:prstGeom>
          <a:solidFill>
            <a:srgbClr val="3B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999232"/>
            <a:ext cx="3118104" cy="10424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rapidfuzz · numpy · tomli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5A6470"/>
                </a:solidFill>
                <a:latin typeface="Calibri"/>
              </a:defRPr>
            </a:pPr>
            <a:r>
              <a:t>Matching, numerics, configuration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8056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500" b="0" i="0">
                <a:solidFill>
                  <a:srgbClr val="1F242B"/>
                </a:solidFill>
                <a:latin typeface="Calibri"/>
              </a:defRPr>
            </a:pPr>
            <a:r>
              <a:t>▪   Output formats: graph.json · GRAPH_REPORT.md · interactive graph.html · SVG · GraphML · Obsidian vault · Cypher · call-flow HTML.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00" b="0" i="0">
                <a:solidFill>
                  <a:srgbClr val="1F242B"/>
                </a:solidFill>
                <a:latin typeface="Calibri"/>
              </a:defRPr>
            </a:pPr>
            <a:r>
              <a:t>▪   Testing: pytest suites covering extraction, resolution, graph validation, caching, watching and healing.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9692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A8CFE8"/>
                </a:solidFill>
                <a:latin typeface="Calibri"/>
              </a:defRPr>
            </a:pPr>
            <a:r>
              <a:t>Pipeline, layers and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977639"/>
            <a:ext cx="9692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detect → extract → build → cluster → analyse → report/export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Modular stages exchanging plain dicts and NetworkX graphs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Persisted graph + cache + manifest for incremental work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Watcher and MCP server as the live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2E5C8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A5B1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System Architecture — Pipeline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1298448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detect()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92807" y="1828800"/>
            <a:ext cx="228600" cy="310896"/>
          </a:xfrm>
          <a:prstGeom prst="rightArrow">
            <a:avLst/>
          </a:prstGeom>
          <a:solidFill>
            <a:srgbClr val="8F9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48840" y="1600200"/>
            <a:ext cx="1298448" cy="777240"/>
          </a:xfrm>
          <a:prstGeom prst="round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extract()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74720" y="1828800"/>
            <a:ext cx="228600" cy="310896"/>
          </a:xfrm>
          <a:prstGeom prst="rightArrow">
            <a:avLst/>
          </a:prstGeom>
          <a:solidFill>
            <a:srgbClr val="8F9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0752" y="1600200"/>
            <a:ext cx="1298448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build()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56632" y="1828800"/>
            <a:ext cx="228600" cy="310896"/>
          </a:xfrm>
          <a:prstGeom prst="rightArrow">
            <a:avLst/>
          </a:prstGeom>
          <a:solidFill>
            <a:srgbClr val="8F9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12664" y="1600200"/>
            <a:ext cx="1298448" cy="777240"/>
          </a:xfrm>
          <a:prstGeom prst="round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cluster()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638544" y="1828800"/>
            <a:ext cx="228600" cy="310896"/>
          </a:xfrm>
          <a:prstGeom prst="rightArrow">
            <a:avLst/>
          </a:prstGeom>
          <a:solidFill>
            <a:srgbClr val="8F9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94576" y="1600200"/>
            <a:ext cx="1298448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analyse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220456" y="1828800"/>
            <a:ext cx="228600" cy="310896"/>
          </a:xfrm>
          <a:prstGeom prst="rightArrow">
            <a:avLst/>
          </a:prstGeom>
          <a:solidFill>
            <a:srgbClr val="8F9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76488" y="1600200"/>
            <a:ext cx="1298448" cy="777240"/>
          </a:xfrm>
          <a:prstGeom prst="round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02368" y="1828800"/>
            <a:ext cx="228600" cy="310896"/>
          </a:xfrm>
          <a:prstGeom prst="rightArrow">
            <a:avLst/>
          </a:prstGeom>
          <a:solidFill>
            <a:srgbClr val="8F9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0" y="1600200"/>
            <a:ext cx="1298448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78892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1F242B"/>
                </a:solidFill>
                <a:latin typeface="Calibri"/>
              </a:defRPr>
            </a:pPr>
            <a:r>
              <a:t>▪   Each stage lives in its own module; stages communicate through plain Python dicts and NetworkX graphs.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1F242B"/>
                </a:solidFill>
                <a:latin typeface="Calibri"/>
              </a:defRPr>
            </a:pPr>
            <a:r>
              <a:t>▪   detect(root) → directory scan summary: files grouped by category, totals, warnings, scan root.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1F242B"/>
                </a:solidFill>
                <a:latin typeface="Calibri"/>
              </a:defRPr>
            </a:pPr>
            <a:r>
              <a:t>▪   extract(paths, *, root) → {nodes, edges}; collect_files(target) expands a directory into that list.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1F242B"/>
                </a:solidFill>
                <a:latin typeface="Calibri"/>
              </a:defRPr>
            </a:pPr>
            <a:r>
              <a:t>▪   build(extractions) → nx.Graph: deduplicates nodes, normalises relationships, refuses dangling endpoints.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1F242B"/>
                </a:solidFill>
                <a:latin typeface="Calibri"/>
              </a:defRPr>
            </a:pPr>
            <a:r>
              <a:t>▪   cluster(G) → {community_id: [node_id, …]} — the graph itself is not mutated.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1F242B"/>
                </a:solidFill>
                <a:latin typeface="Calibri"/>
              </a:defRPr>
            </a:pPr>
            <a:r>
              <a:t>▪   analyse helpers: god_nodes, surprising_connections, suggest_questions, find_import_cycles, graph_diff.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1F242B"/>
                </a:solidFill>
                <a:latin typeface="Calibri"/>
              </a:defRPr>
            </a:pPr>
            <a:r>
              <a:t>▪   report.generate(…) → GRAPH_REPORT.md string;  export.to_*(G) → json / html / svg / graphml / cypher / obsidian 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System Architecture — Layered View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331720" cy="841248"/>
          </a:xfrm>
          <a:prstGeom prst="round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2148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Access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371600"/>
            <a:ext cx="8595360" cy="841248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463040"/>
            <a:ext cx="8229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F242B"/>
                </a:solidFill>
                <a:latin typeface="Calibri"/>
              </a:defRPr>
            </a:pPr>
            <a:r>
              <a:t>Terminal CLI   ·   IDE / agent skill files   ·   MCP server (stdio + HTTP)   ·   graph.html / call-flow 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0008"/>
            <a:ext cx="2331720" cy="841248"/>
          </a:xfrm>
          <a:prstGeom prst="round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41448"/>
            <a:ext cx="2148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Query &amp; analysis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350008"/>
            <a:ext cx="8595360" cy="841248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441448"/>
            <a:ext cx="8229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F242B"/>
                </a:solidFill>
                <a:latin typeface="Calibri"/>
              </a:defRPr>
            </a:pPr>
            <a:r>
              <a:t>query · path · explain · affected · god-nodes · communities · graph_diff · benchmark · broken_references / heal_status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28416"/>
            <a:ext cx="2331720" cy="841248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19856"/>
            <a:ext cx="2148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Graph 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328416"/>
            <a:ext cx="8595360" cy="841248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419856"/>
            <a:ext cx="8229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F242B"/>
                </a:solidFill>
                <a:latin typeface="Calibri"/>
              </a:defRPr>
            </a:pPr>
            <a:r>
              <a:t>graph.json (nodes, links, hyperedges, broken_references, healing_status)   ·   in-memory NetworkX cache   ·   manifest + cache for incremental 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06824"/>
            <a:ext cx="2331720" cy="84124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98264"/>
            <a:ext cx="2148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Extraction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4306824"/>
            <a:ext cx="8595360" cy="841248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4398264"/>
            <a:ext cx="8229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F242B"/>
                </a:solidFill>
                <a:latin typeface="Calibri"/>
              </a:defRPr>
            </a:pPr>
            <a:r>
              <a:t>Tree-sitter extractors per language   ·   cross-file resolvers   ·   config/manifest/schema ingesters   ·   semantic (optional LLM) pass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85232"/>
            <a:ext cx="2331720" cy="841248"/>
          </a:xfrm>
          <a:prstGeom prst="roundRect">
            <a:avLst/>
          </a:prstGeom>
          <a:solidFill>
            <a:srgbClr val="6B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76672"/>
            <a:ext cx="21488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Source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5285232"/>
            <a:ext cx="8595360" cy="841248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5376672"/>
            <a:ext cx="8229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F242B"/>
                </a:solidFill>
                <a:latin typeface="Calibri"/>
              </a:defRPr>
            </a:pPr>
            <a:r>
              <a:t>Repository files: source code, configuration, Markdown, documents, media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01400" y="1371600"/>
            <a:ext cx="457200" cy="4663440"/>
          </a:xfrm>
          <a:prstGeom prst="rect">
            <a:avLst/>
          </a:prstGeom>
          <a:solidFill>
            <a:srgbClr val="E3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27080" y="3291840"/>
            <a:ext cx="1280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A6470"/>
                </a:solidFill>
                <a:latin typeface="Calibri"/>
              </a:defRPr>
            </a:pPr>
            <a:r>
              <a:t>data</a:t>
            </a:r>
            <a:br/>
            <a:r>
              <a:t>flow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System Architecture — Extraction &amp; Graph Model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1. Discover files — language, ignore and safety rules are applied before anything is parsed.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2. Parse code locally — Tree-sitter extractors build file and symbol nodes plus relationships (imports, calls, containment, inheritance).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3. Resolve relationships — cross-file resolvers use current parse results plus read-only symbol data from unchanged files.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4. Build and validate — the builder deduplicates nodes, normalises relationships and refuses dangling endpoints.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550" b="0" i="0">
                <a:solidFill>
                  <a:srgbClr val="1F242B"/>
                </a:solidFill>
                <a:latin typeface="Calibri"/>
              </a:defRPr>
            </a:pPr>
            <a:r>
              <a:t>▪   5. Persist outputs — graph.json is the queryable graph; cache and manifest files support incremental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60520"/>
            <a:ext cx="5486400" cy="182880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160520"/>
            <a:ext cx="82296" cy="18288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79392"/>
            <a:ext cx="5102352" cy="1591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Extraction schema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5A6470"/>
                </a:solidFill>
                <a:latin typeface="Calibri"/>
              </a:defRPr>
            </a:pPr>
            <a:r>
              <a:t>{ “nodes”: [ {id, label, source_file, source_location} ],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5A6470"/>
                </a:solidFill>
                <a:latin typeface="Calibri"/>
              </a:defRPr>
            </a:pPr>
            <a:r>
              <a:t>  “edges”: [ {source, target, relation, confidence} ] }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5A6470"/>
                </a:solidFill>
                <a:latin typeface="Calibri"/>
              </a:defRPr>
            </a:pPr>
            <a:r>
              <a:t>validate.py enforces it before build() consumes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160520"/>
            <a:ext cx="5394960" cy="182880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4160520"/>
            <a:ext cx="82296" cy="182880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4279392"/>
            <a:ext cx="5010912" cy="1591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Edge direction &amp; confidence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5A6470"/>
                </a:solidFill>
                <a:latin typeface="Calibri"/>
              </a:defRPr>
            </a:pPr>
            <a:r>
              <a:t>Arc order carries direction (source → target); _src/_tgt markers preserve it on reload.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 i="0">
                <a:solidFill>
                  <a:srgbClr val="5A6470"/>
                </a:solidFill>
                <a:latin typeface="Calibri"/>
              </a:defRPr>
            </a:pPr>
            <a:r>
              <a:t>EXTRACTED · INFERRED · AMBIGUOUS — ambiguous edges are flagged for review.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System Architecture — Live Update &amp; Healing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1F242B"/>
                </a:solidFill>
                <a:latin typeface="Calibri"/>
              </a:defRPr>
            </a:pPr>
            <a:r>
              <a:t>▪   When the MCP server starts, a background watcher monitors the project that contains the configured graph.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1F242B"/>
                </a:solidFill>
                <a:latin typeface="Calibri"/>
              </a:defRPr>
            </a:pPr>
            <a:r>
              <a:t>▪   A short debounce (default 0.75 s) groups editor save events; a move event contributes both the old and the new path.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1F242B"/>
                </a:solidFill>
                <a:latin typeface="Calibri"/>
              </a:defRPr>
            </a:pPr>
            <a:r>
              <a:t>▪   Only changed, locally parseable files are re-parsed; stored AST data for unchanged files is reused as resolution context.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1F242B"/>
                </a:solidFill>
                <a:latin typeface="Calibri"/>
              </a:defRPr>
            </a:pPr>
            <a:r>
              <a:t>▪   Stale nodes from deleted or renamed-away files are removed, then nodes and edges are reconciled with the previous graph.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1F242B"/>
                </a:solidFill>
                <a:latin typeface="Calibri"/>
              </a:defRPr>
            </a:pPr>
            <a:r>
              <a:t>▪   If a relationship loses an endpoint it is kept out of the active graph and recorded under graph.broken_references as BROKEN (with reason, missing node, affected files, source location).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1F242B"/>
                </a:solidFill>
                <a:latin typeface="Calibri"/>
              </a:defRPr>
            </a:pPr>
            <a:r>
              <a:t>▪   On the next rebuild the healer compares the previous graph with the new node set: a returning target restores the edge and marks the record HEALED. A unique same-file, same-location match can heal a rename; ambiguous matches are never guessed.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1F242B"/>
                </a:solidFill>
                <a:latin typeface="Calibri"/>
              </a:defRPr>
            </a:pPr>
            <a:r>
              <a:t>▪   MCP tools broken_references and heal_status expose this state to the agent; updates are atomic and serialised per project.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9692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List of Modules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A8CFE8"/>
                </a:solidFill>
                <a:latin typeface="Calibri"/>
              </a:defRPr>
            </a:pPr>
            <a:r>
              <a:t>The building blocks of the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977639"/>
            <a:ext cx="9692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Core pipeline modules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Extractor and ingester modules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Runtime modules: watcher, server, healing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Support modules: security, validation, caching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2E5C8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A5B1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List of Modules — Core Pipeline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286000"/>
                <a:gridCol w="8138160"/>
              </a:tblGrid>
              <a:tr h="44805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detect.py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Scan a directory into a file summary grouped by category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extract.py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Path list → {nodes, edges}; collect_files expands directories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extractors/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Language-specific Tree-sitter extractors and resolvers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build.py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Extraction → NetworkX graph; dedup, normalise, validate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cluster.py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Louvain community detection over the graph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analyze.py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God nodes, surprises, suggested questions, cycles, diff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report.py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Generate GRAPH_REPORT.md from graph + analysis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export.py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JSON, HTML, SVG, GraphML, Obsidian, Canvas, Cypher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wiki.py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One Markdown article per community + index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List of Modules — Runtime &amp; Support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651760"/>
                <a:gridCol w="7772400"/>
              </a:tblGrid>
              <a:tr h="41563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serve.py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MCP server over stdio or HTTP, with in-memory graph cache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watch.py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Watch a directory and rebuild the graph on code changes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healing.py / broken refs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Record BROKEN edges, reconcile them to HEALED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cache.py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Semantic cache: nodes / edges / hyperedges + pending files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manifest.py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Per-file stamps that drive incremental re-extraction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security.py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URL, path and label validation before any external input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validate.py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Enforce the extraction schema before build()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ids.py · paths.py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Deterministic node ids and graph path handling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benchmark.py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Corpus vs. subgraph token-cost comparison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callflow_html.py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Mermaid architecture / call-flow HTML report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9692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Module Description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A8CFE8"/>
                </a:solidFill>
                <a:latin typeface="Calibri"/>
              </a:defRPr>
            </a:pPr>
            <a:r>
              <a:t>What each module does, and with what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977639"/>
            <a:ext cx="9692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Verified entry points and data contracts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Analysis, reporting and export behaviour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Runtime, caching and healing mechanics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2E5C8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A5B1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Module Description — Extraction &amp; Build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92240"/>
              </a:tblGrid>
              <a:tr h="4800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 · entry point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→ Output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detect.detect(root)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Directory → scan summary dict (files by category, totals, warning, scan_root)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extract.extract(paths, *, root)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List of file paths → {nodes, edges} dict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extract.collect_files(target)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Directory → the file path list consumed by extract()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build.build(extractions) / build_from_json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Extraction dict(s) → nx.Graph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cluster.cluster(G)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Graph → {community_id: [node_id, …]} (graph not mutated)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validate.validate_extraction / assert_valid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Extraction dict → schema error list / raises on invalid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extractors.extract_&lt;lang&gt;(path)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One file → nodes and edges for that language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300" b="0" i="0">
                <a:solidFill>
                  <a:srgbClr val="1F242B"/>
                </a:solidFill>
                <a:latin typeface="Calibri"/>
              </a:defRPr>
            </a:pPr>
            <a:r>
              <a:t>▪   extract() takes a list of paths and a keyword-only root — node ids and source_file values are derived relative to that root.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Module Description — Analysis &amp; Output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92240"/>
              </a:tblGrid>
              <a:tr h="44805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produces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analyze.god_nodes(G)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Most-connected nodes — the architectural hubs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analyze.surprising_connections(G)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Cross-community links worth a second look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analyze.suggest_questions(G, …)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Question candidates this graph is uniquely able to answer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analyze.find_import_cycles(G)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Detected import cycles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analyze.graph_diff(G_old, G_new)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Node/edge level difference between two graphs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report.generate(G, …)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GRAPH_REPORT.md: summary, hubs, surprises, communities, gaps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export.to_json / to_html / to_svg / to_graphml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Persisted graph and visual artefacts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export.to_obsidian / to_canvas / to_cypher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Obsidian vault + canvas, and Cypher for graph databases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wiki.to_wiki(G, communities, …)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One Markdown article per community plus index.md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Module Description — Runtime, Cache &amp; Healing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6217920"/>
              </a:tblGrid>
              <a:tr h="441959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Behaviour</a:t>
                      </a:r>
                    </a:p>
                  </a:txBody>
                  <a:tcPr marL="64008" marR="64008" marT="27432" marB="27432" anchor="ctr">
                    <a:solidFill>
                      <a:srgbClr val="142A4C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serve.serve(graph_path)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MCP stdio server; loads the graph, starts the project watcher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serve.serve_http(graph_path, *, host, port)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HTTP transport for the same tool surface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watch.watch(path, debounce)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Rebuild the graph when watched files change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watch.check_update(path)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Report whether a re-extraction is still pending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cache.check_semantic_cache / save_semantic_cache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Reuse cached nodes / edges / hyperedges; list files still needing extraction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healing + graph.broken_references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Store unresolved edges with reason, missing node and affected files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graph.healing_status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Per-file summaries consumed by the heal_status MCP tool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41967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security.validate_url / safe_fetch / validate_graph_path / sanitize_label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B"/>
                          </a:solidFill>
                          <a:latin typeface="Calibri"/>
                        </a:defRPr>
                      </a:pPr>
                      <a:r>
                        <a:t>Guard every external input and every label written to the graph</a:t>
                      </a:r>
                    </a:p>
                  </a:txBody>
                  <a:tcPr marL="64008" marR="64008" marT="27432" marB="27432" anchor="ctr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250" b="0" i="0">
                <a:solidFill>
                  <a:srgbClr val="1F242B"/>
                </a:solidFill>
                <a:latin typeface="Calibri"/>
              </a:defRPr>
            </a:pPr>
            <a:r>
              <a:t>▪   MCP tools: query_graph · shortest_path · get_node · get_neighbors · get_community · god_nodes · graph_stats · broken_references · heal_status · list_prs · get_pr_impact · triage_prs.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9692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Output Screenshots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A8CFE8"/>
                </a:solidFill>
                <a:latin typeface="Calibri"/>
              </a:defRPr>
            </a:pPr>
            <a:r>
              <a:t>Real runs of Code2Graph on a 15-file sample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977639"/>
            <a:ext cx="9692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Indexing and clustering from an empty output folder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Queries, paths, explanations and impact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D8E8F4"/>
                </a:solidFill>
                <a:latin typeface="Calibri"/>
              </a:defRPr>
            </a:pPr>
            <a:r>
              <a:t>▪   Exports, MCP session, healing, graph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2E5C8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A5B1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output/01 — Indexing a repository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1_extract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73" y="1335024"/>
            <a:ext cx="10441947" cy="4041648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code2graph extract . --code-only parses 15 code files locally — no API key, no tokens — then cluster-only writes the graph, GRAPH_REPORT.md and graph.html.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output/02 — Graph query and hubs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3_query_god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74" y="1335024"/>
            <a:ext cx="10668946" cy="4041648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A focused question is answered over the graph (BFS, context filtered to calls) and god-nodes lists the architectural hubs of the project.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output/03 — Natural-language traversal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12_query_br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596" y="1335024"/>
            <a:ext cx="8588502" cy="4041648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The same question with a wider budget returns 19 nodes and 29 edges, each with source file, line and community — the assistant's view of the graph.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output/04 — Path tracing and explanation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2_path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74" y="1335024"/>
            <a:ext cx="10015745" cy="4041648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code2graph path "RequestHandler" "Task" returns a 4-hop route through the imports; code2graph explain "AuthService" lists all 8 relationships with relation type and confidence.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output/05 — Change-impact analysis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4_aff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35024"/>
            <a:ext cx="10972800" cy="3704933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code2graph affected "Model" performs a reverse traversal and lists every node a change to Model can reach — imports, inherits, calls and re-exports.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output/06 — Token-reduction benchmark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4b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35024"/>
            <a:ext cx="10972800" cy="2801291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code2graph benchmark compares the whole corpus against the subgraph an answer needs: ~4.6× fewer tokens per query on this sample repository.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output/07 — Export formats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5_ex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35024"/>
            <a:ext cx="10972800" cy="3524205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The same graph is exported as interactive HTML, SVG, GraphML and a Mermaid call-flow report — one graph, many downstream views.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output/08 — MCP tool catalog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6_mcp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674" y="1335024"/>
            <a:ext cx="9516345" cy="4041648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code2graph-mcp serves 12 tools over stdio and starts the background watcher; graph_stats answers with node, edge, community and confidence counts.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output/09 — MCP graph queries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13_mcp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35024"/>
            <a:ext cx="10972800" cy="3149839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Inside a client session, shortest_path traces RequestHandler → Task in 4 hops and get_neighbors returns every relationship of AuthService with its confidence label.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output/10 — MCP natural-language query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14_mcp_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35024"/>
            <a:ext cx="10972800" cy="3821116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query_graph answers a question in the assistant's own tool call; the reply reports the traversal, the node list and the token budget it respected.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output/11 — Broken reference recorded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15_br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35024"/>
            <a:ext cx="10972800" cy="3988935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After app/models/task.py is deleted, code2graph update rebuilds the graph to 64 nodes / 100 edges and records the lost relationships as BROKEN metadata.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output/12 — Reference healed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7_hea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74" y="1335024"/>
            <a:ext cx="10668946" cy="4041648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When the file returns, the next rebuild reconciles every record: all 9 edges are restored and marked HEALED instead of leaving dangling or phantom nodes.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output/13 — Healing diagnostics over MCP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7b_heal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35024"/>
            <a:ext cx="10972800" cy="2982019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heal_status reports the file as HEALTHY with 4 healed references and 0 broken; broken_references confirms the project has no unresolved edges left.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output/14 — Graph view (graph.json)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8_graph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271" y="1335024"/>
            <a:ext cx="7185152" cy="4041648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The persisted graph rendered as a network: node size is degree, colour is community and hub nodes are labelled — the same data the interactive graph.html draws.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output/15 — Community detection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9_commun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218" y="1335024"/>
            <a:ext cx="7393258" cy="4041648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Louvain clustering over the sample repository, with each community named after its highest-degree node.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output/16 — Edge confidence and relations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10_confidence_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541" y="1335024"/>
            <a:ext cx="9472612" cy="4041648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Every edge carries a confidence label (EXTRACTED / INFERRED / AMBIGUOUS) and a relation type such as calls, imports, imports_from, contains, method or rationale_for.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output/17 — GRAPH_REPORT.md (1 of 3)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16_repo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35024"/>
            <a:ext cx="10972800" cy="3821116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report.py writes a human-readable report: corpus summary, extraction confidence split, community hubs and the god nodes of the project.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output/18 — GRAPH_REPORT.md (2 of 3)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17_repo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45" y="1335024"/>
            <a:ext cx="8877004" cy="4041648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Surprising connections show cross-module links with their confidence, followed by import cycles and the detected communities with cohesion scores.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output/19 — GRAPH_REPORT.md (3 of 3)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7432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E9CC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43584"/>
            <a:ext cx="11274552" cy="4224528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18_repo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66" y="1335024"/>
            <a:ext cx="8318161" cy="4041648"/>
          </a:xfrm>
          <a:prstGeom prst="rect">
            <a:avLst/>
          </a:prstGeom>
          <a:ln w="12700">
            <a:solidFill>
              <a:srgbClr val="C8D2D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57200" y="5596128"/>
            <a:ext cx="11274552" cy="786384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64008" cy="78638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10927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F242B"/>
                </a:solidFill>
                <a:latin typeface="Calibri"/>
              </a:defRPr>
            </a:pPr>
            <a:r>
              <a:t>Knowledge gaps (thin communities) and suggested questions — each pointing at a bridge node the graph is uniquely positioned to explain.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FFFFFF"/>
                </a:solidFill>
                <a:latin typeface="Calibri"/>
              </a:defRPr>
            </a:pPr>
            <a:r>
              <a:t>Conclusion &amp; Future Scope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B6D8EE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A6470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600" b="0" i="0">
                <a:solidFill>
                  <a:srgbClr val="1F242B"/>
                </a:solidFill>
                <a:latin typeface="Calibri"/>
              </a:defRPr>
            </a:pPr>
            <a:r>
              <a:t>▪   Code2Graph turns a source tree into a persistent, queryable knowledge graph of files, symbols and relationships.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00" b="0" i="0">
                <a:solidFill>
                  <a:srgbClr val="1F242B"/>
                </a:solidFill>
                <a:latin typeface="Calibri"/>
              </a:defRPr>
            </a:pPr>
            <a:r>
              <a:t>▪   Structural extraction is local and deterministic — code-only indexing needs no API key and consumes no tokens.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00" b="0" i="0">
                <a:solidFill>
                  <a:srgbClr val="1F242B"/>
                </a:solidFill>
                <a:latin typeface="Calibri"/>
              </a:defRPr>
            </a:pPr>
            <a:r>
              <a:t>▪   Incremental watching plus broken-reference healing keeps the graph trustworthy across edits, renames and deletions.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00" b="0" i="0">
                <a:solidFill>
                  <a:srgbClr val="1F242B"/>
                </a:solidFill>
                <a:latin typeface="Calibri"/>
              </a:defRPr>
            </a:pPr>
            <a:r>
              <a:t>▪   One graph serves a terminal CLI, IDE/agent skills and an MCP server, so any compatible assistant can reuse the same context.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defRPr sz="1600" b="0" i="0">
                <a:solidFill>
                  <a:srgbClr val="1F242B"/>
                </a:solidFill>
                <a:latin typeface="Calibri"/>
              </a:defRPr>
            </a:pPr>
            <a:r>
              <a:t>▪   Measured on the sample repository: 65 nodes, 110 edges across 15 files, ~4.6× fewer tokens per query than whole-corpus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43400"/>
            <a:ext cx="11064240" cy="160020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343400"/>
            <a:ext cx="82296" cy="160020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462272"/>
            <a:ext cx="10680192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42A4C"/>
                </a:solidFill>
                <a:latin typeface="Calibri"/>
              </a:defRPr>
            </a:pPr>
            <a:r>
              <a:t>Future scope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50" b="0" i="0">
                <a:solidFill>
                  <a:srgbClr val="5A6470"/>
                </a:solidFill>
                <a:latin typeface="Calibri"/>
              </a:defRPr>
            </a:pPr>
            <a:r>
              <a:t>▪  Broaden dynamic/runtime analysis so behaviour that static parsing cannot resolve becomes visible in the graph.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50" b="0" i="0">
                <a:solidFill>
                  <a:srgbClr val="5A6470"/>
                </a:solidFill>
                <a:latin typeface="Calibri"/>
              </a:defRPr>
            </a:pPr>
            <a:r>
              <a:t>▪  Expand the semantic layer for documents and media with configurable providers, and grow the language/grammar coverage.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50" b="0" i="0">
                <a:solidFill>
                  <a:srgbClr val="5A6470"/>
                </a:solidFill>
                <a:latin typeface="Calibri"/>
              </a:defRPr>
            </a:pPr>
            <a:r>
              <a:t>▪  Deeper PR and cross-repository impact workflows, and richer human-facing exports (wiki, canvas, dashboards).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600" b="1" i="0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900" b="0" i="0">
                <a:solidFill>
                  <a:srgbClr val="A8CFE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 sz="1300" b="0" i="0">
                <a:solidFill>
                  <a:srgbClr val="C8DEEE"/>
                </a:solidFill>
                <a:latin typeface="Calibri"/>
              </a:defRPr>
            </a:pPr>
            <a:r>
              <a:t>Team 20  ·  Akshaya Kumar R S  ·  Sachin J  ·  Senthil Pandian G S</a:t>
            </a:r>
          </a:p>
          <a:p>
            <a:pPr algn="ctr">
              <a:spcBef>
                <a:spcPts val="0"/>
              </a:spcBef>
              <a:spcAft>
                <a:spcPts val="500"/>
              </a:spcAft>
              <a:defRPr sz="1300" b="0" i="0">
                <a:solidFill>
                  <a:srgbClr val="C8DEEE"/>
                </a:solidFill>
                <a:latin typeface="Calibri"/>
              </a:defRPr>
            </a:pPr>
            <a:r>
              <a:t>Department of Artificial Intelligence and Data Science, K.L.N. College of Engineering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C8DEEE"/>
                </a:solidFill>
                <a:latin typeface="Calibri"/>
              </a:defRPr>
            </a:pPr>
            <a:r>
              <a:t>Supervisor: Mrs. Ilamathi S., AP / AI &amp; 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384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A5B1"/>
                </a:solidFill>
                <a:latin typeface="Calibri"/>
              </a:defRPr>
            </a:pPr>
            <a:r>
              <a:t>Code2Graph  ·  Knowledge Graph-Based Structural Context for AI-Assisted Software Development  ·  Team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